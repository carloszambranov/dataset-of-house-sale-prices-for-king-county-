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365760" cy="5033772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9728"/>
            <a:ext cx="54864" cy="503377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8229600" cy="9601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King County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8229600" cy="7772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3600" b="0" i="0">
                <a:solidFill>
                  <a:srgbClr val="FF9F1C"/>
                </a:solidFill>
                <a:latin typeface="Calibri"/>
              </a:rPr>
              <a:t>House Price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7772400" cy="5029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Predicting sale prices · King County, WA · May 2014 – May 2015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251960"/>
            <a:ext cx="8778240" cy="89154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315968"/>
            <a:ext cx="822960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FF9F1C"/>
                </a:solidFill>
                <a:latin typeface="Calibri"/>
              </a:rPr>
              <a:t>21,613 records  ·  21 features  ·  ML regression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056632"/>
            <a:ext cx="9144000" cy="86868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6400800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640080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King County, WA — May 2014 to May 2015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8288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34440"/>
            <a:ext cx="1828800" cy="65379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E8650A"/>
                </a:solidFill>
                <a:latin typeface="Calibri"/>
              </a:rPr>
              <a:t>21,613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08683"/>
            <a:ext cx="1828800" cy="451713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Total house sales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143000"/>
            <a:ext cx="18288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234440"/>
            <a:ext cx="1828800" cy="65379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FF9F1C"/>
                </a:solidFill>
                <a:latin typeface="Calibri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808683"/>
            <a:ext cx="1828800" cy="451713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Feature columns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143000"/>
            <a:ext cx="18288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234440"/>
            <a:ext cx="1828800" cy="65379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E63946"/>
                </a:solidFill>
                <a:latin typeface="Calibri"/>
              </a:rPr>
              <a:t>$540K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808683"/>
            <a:ext cx="1828800" cy="451713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Mean sale price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143000"/>
            <a:ext cx="18288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234440"/>
            <a:ext cx="1828800" cy="65379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2A9D8F"/>
                </a:solidFill>
                <a:latin typeface="Calibri"/>
              </a:rPr>
              <a:t>$450K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808683"/>
            <a:ext cx="1828800" cy="451713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Median sale price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60604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2670048"/>
            <a:ext cx="18288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E8650A"/>
                </a:solidFill>
                <a:latin typeface="Calibri"/>
              </a:rPr>
              <a:t>id /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2953512"/>
            <a:ext cx="1828800" cy="38404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Unique ID &amp; sale 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260604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2670048"/>
            <a:ext cx="18288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E8650A"/>
                </a:solidFill>
                <a:latin typeface="Calibri"/>
              </a:rPr>
              <a:t>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953512"/>
            <a:ext cx="1828800" cy="38404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Sale price — TARGET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260604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59" y="2670048"/>
            <a:ext cx="18288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E8650A"/>
                </a:solidFill>
                <a:latin typeface="Calibri"/>
              </a:rPr>
              <a:t>bedrooms/baths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2953512"/>
            <a:ext cx="1828800" cy="38404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Rooms configuration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60604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670048"/>
            <a:ext cx="18288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E8650A"/>
                </a:solidFill>
                <a:latin typeface="Calibri"/>
              </a:rPr>
              <a:t>sqft_living/lot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953512"/>
            <a:ext cx="1828800" cy="38404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Living &amp; lot size (sqft)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5661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3630168"/>
            <a:ext cx="18288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E8650A"/>
                </a:solidFill>
                <a:latin typeface="Calibri"/>
              </a:rPr>
              <a:t>floors/waterfront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3913632"/>
            <a:ext cx="1828800" cy="38404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Levels &amp; waterfront flag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35661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3630168"/>
            <a:ext cx="18288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E8650A"/>
                </a:solidFill>
                <a:latin typeface="Calibri"/>
              </a:rPr>
              <a:t>grade/condition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3913632"/>
            <a:ext cx="1828800" cy="38404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KC grading system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35661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59" y="3630168"/>
            <a:ext cx="18288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E8650A"/>
                </a:solidFill>
                <a:latin typeface="Calibri"/>
              </a:rPr>
              <a:t>yr_built/renovated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59" y="3913632"/>
            <a:ext cx="1828800" cy="38404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Construction &amp; reno year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35661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3630168"/>
            <a:ext cx="18288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E8650A"/>
                </a:solidFill>
                <a:latin typeface="Calibri"/>
              </a:rPr>
              <a:t>lat/long/zipcode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3913632"/>
            <a:ext cx="1828800" cy="38404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Geographic coordinates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6400800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Price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731520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Right-skewed distribution — log transform improves model 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40233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441524" cy="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59" y="3886200"/>
            <a:ext cx="496388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&lt; 200K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6468" y="3642969"/>
            <a:ext cx="441524" cy="19751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0748" y="3886200"/>
            <a:ext cx="496388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200-300K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32857" y="3544214"/>
            <a:ext cx="441524" cy="296265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87137" y="3886200"/>
            <a:ext cx="496388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300-400K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9245" y="3593592"/>
            <a:ext cx="441524" cy="24688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3525" y="3886200"/>
            <a:ext cx="496388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400-500K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5634" y="3662720"/>
            <a:ext cx="441524" cy="177759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79914" y="3886200"/>
            <a:ext cx="496388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500-600K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2022" y="3721973"/>
            <a:ext cx="441524" cy="118506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76302" y="3886200"/>
            <a:ext cx="496388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600-800K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8411" y="3771351"/>
            <a:ext cx="441524" cy="69128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2691" y="3886200"/>
            <a:ext cx="496388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&gt; 800K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343400"/>
            <a:ext cx="4023360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Calibri"/>
              </a:rPr>
              <a:t>Price Distribution (simulated)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Key Statistics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1600200"/>
            <a:ext cx="41148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1664208"/>
            <a:ext cx="182880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664208"/>
            <a:ext cx="201168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1300" b="1" i="0">
                <a:solidFill>
                  <a:srgbClr val="555555"/>
                </a:solidFill>
                <a:latin typeface="Calibri"/>
              </a:rPr>
              <a:t>$75,000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167128"/>
            <a:ext cx="41148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2231136"/>
            <a:ext cx="182880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Max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231136"/>
            <a:ext cx="201168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1300" b="1" i="0">
                <a:solidFill>
                  <a:srgbClr val="E63946"/>
                </a:solidFill>
                <a:latin typeface="Calibri"/>
              </a:rPr>
              <a:t>$7,700,000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2734056"/>
            <a:ext cx="41148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2798064"/>
            <a:ext cx="182880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Mean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798064"/>
            <a:ext cx="201168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1300" b="1" i="0">
                <a:solidFill>
                  <a:srgbClr val="E8650A"/>
                </a:solidFill>
                <a:latin typeface="Calibri"/>
              </a:rPr>
              <a:t>$540,088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3300984"/>
            <a:ext cx="41148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3364991"/>
            <a:ext cx="182880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Median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364991"/>
            <a:ext cx="201168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1300" b="1" i="0">
                <a:solidFill>
                  <a:srgbClr val="FF9F1C"/>
                </a:solidFill>
                <a:latin typeface="Calibri"/>
              </a:rPr>
              <a:t>$450,000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3867912"/>
            <a:ext cx="41148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0" y="3931920"/>
            <a:ext cx="182880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Std Dev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931920"/>
            <a:ext cx="201168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1300" b="1" i="0">
                <a:solidFill>
                  <a:srgbClr val="2A9D8F"/>
                </a:solidFill>
                <a:latin typeface="Calibri"/>
              </a:rPr>
              <a:t>$367,127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553712"/>
            <a:ext cx="841248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Note: Distribution is right-skewed — log(price) used in linear models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Top Features Impacting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Pearson correlation with sale price — generated from real dataset</a:t>
            </a:r>
          </a:p>
        </p:txBody>
      </p:sp>
      <p:pic>
        <p:nvPicPr>
          <p:cNvPr id="5" name="Picture 4" descr="chart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548640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35040" y="1097280"/>
            <a:ext cx="2834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0" y="1097280"/>
            <a:ext cx="91440" cy="82296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8" y="1170432"/>
            <a:ext cx="2560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E8650A"/>
                </a:solidFill>
                <a:latin typeface="Calibri"/>
              </a:rPr>
              <a:t>sqft_living r=0.70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1517904"/>
            <a:ext cx="2560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Largest single predictor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057400"/>
            <a:ext cx="2834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2057400"/>
            <a:ext cx="91440" cy="8229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2130552"/>
            <a:ext cx="2560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  <a:latin typeface="Calibri"/>
              </a:rPr>
              <a:t>grade r=0.67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2478024"/>
            <a:ext cx="2560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KC quality grading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017520"/>
            <a:ext cx="2834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3017520"/>
            <a:ext cx="91440" cy="8229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3090672"/>
            <a:ext cx="2560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  <a:latin typeface="Calibri"/>
              </a:rPr>
              <a:t>bathrooms r=0.53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3438144"/>
            <a:ext cx="2560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Proxy for luxury level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977640"/>
            <a:ext cx="2834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3977640"/>
            <a:ext cx="91440" cy="8229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4050792"/>
            <a:ext cx="2560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view r=0.40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4398264"/>
            <a:ext cx="2560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Times viewed / view quality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6400800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Premium 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640080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FF9F1C"/>
                </a:solidFill>
                <a:latin typeface="Calibri"/>
              </a:rPr>
              <a:t>Houses priced at $650,000 and above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200400" cy="146304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3200400" cy="9144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5400" b="1" i="0">
                <a:solidFill>
                  <a:srgbClr val="E8650A"/>
                </a:solidFill>
                <a:latin typeface="Calibri"/>
              </a:rPr>
              <a:t>24.2%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3200400" cy="5029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of all transactions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143000"/>
            <a:ext cx="4937760" cy="146304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39" y="1170432"/>
            <a:ext cx="1417320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E8650A"/>
                </a:solidFill>
                <a:latin typeface="Calibri"/>
              </a:rP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59" y="1170432"/>
            <a:ext cx="1691640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Standard (&lt;$650K)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170432"/>
            <a:ext cx="1737360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F9F1C"/>
                </a:solidFill>
                <a:latin typeface="Calibri"/>
              </a:rPr>
              <a:t>Premium (≥$650K)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1508760"/>
            <a:ext cx="4846320" cy="2743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59" y="1536192"/>
            <a:ext cx="13716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Avg. Grade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79" y="1536192"/>
            <a:ext cx="155448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6.9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536192"/>
            <a:ext cx="164592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F9F1C"/>
                </a:solidFill>
                <a:latin typeface="Calibri"/>
              </a:rPr>
              <a:t>9.2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39" y="1810512"/>
            <a:ext cx="4846320" cy="27432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59" y="1837943"/>
            <a:ext cx="13716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Avg. Sqft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79" y="1837943"/>
            <a:ext cx="155448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1,710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837943"/>
            <a:ext cx="164592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F9F1C"/>
                </a:solidFill>
                <a:latin typeface="Calibri"/>
              </a:rPr>
              <a:t>3,150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7639" y="2112264"/>
            <a:ext cx="4846320" cy="2743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59" y="2139696"/>
            <a:ext cx="13716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Waterfront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79" y="2139696"/>
            <a:ext cx="155448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0.4%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139696"/>
            <a:ext cx="164592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F9F1C"/>
                </a:solidFill>
                <a:latin typeface="Calibri"/>
              </a:rPr>
              <a:t>4.1%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7639" y="2414015"/>
            <a:ext cx="4846320" cy="27432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59" y="2441447"/>
            <a:ext cx="13716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Avg. Price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79" y="2441447"/>
            <a:ext cx="155448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$317K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441447"/>
            <a:ext cx="164592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F9F1C"/>
                </a:solidFill>
                <a:latin typeface="Calibri"/>
              </a:rPr>
              <a:t>$1.08M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788920"/>
            <a:ext cx="8229600" cy="38404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FF9F1C"/>
                </a:solidFill>
                <a:latin typeface="Calibri"/>
              </a:rPr>
              <a:t>Key Insights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291840"/>
            <a:ext cx="164592" cy="164592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218688"/>
            <a:ext cx="822960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Higher grade = exponentially higher price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675887"/>
            <a:ext cx="164592" cy="164592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602736"/>
            <a:ext cx="822960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Premium homes are ~2x larger (sqft)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059936"/>
            <a:ext cx="164592" cy="164592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986784"/>
            <a:ext cx="822960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10x more likely to have waterfront access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443984"/>
            <a:ext cx="164592" cy="164592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370832"/>
            <a:ext cx="822960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Concentrated in Seattle &amp; Bellevue areas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6400800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Geographic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640080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Location is one of the strongest price predictors</a:t>
            </a:r>
          </a:p>
        </p:txBody>
      </p:sp>
      <p:pic>
        <p:nvPicPr>
          <p:cNvPr id="5" name="Picture 4" descr="chart_g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029200" cy="3950208"/>
          </a:xfrm>
          <a:prstGeom prst="rect">
            <a:avLst/>
          </a:prstGeom>
        </p:spPr>
      </p:pic>
      <p:pic>
        <p:nvPicPr>
          <p:cNvPr id="6" name="Picture 5" descr="chart_zi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051560"/>
            <a:ext cx="3520440" cy="3950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6400800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640080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Transformations applied before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4206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91440" cy="96012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384048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E8650A"/>
                </a:solidFill>
                <a:latin typeface="Calibri"/>
              </a:rPr>
              <a:t>house_age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3840480" cy="3931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Sale year − year built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097280"/>
            <a:ext cx="4206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1097280"/>
            <a:ext cx="91440" cy="9601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1768" y="1188720"/>
            <a:ext cx="384048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  <a:latin typeface="Calibri"/>
              </a:rPr>
              <a:t>was_renovated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1572768"/>
            <a:ext cx="3840480" cy="3931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Binary flag (1 if yr_renovated &gt; 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94560"/>
            <a:ext cx="4206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94560"/>
            <a:ext cx="91440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86000"/>
            <a:ext cx="384048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Calibri"/>
              </a:rPr>
              <a:t>years_since_renovation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670048"/>
            <a:ext cx="3840480" cy="3931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Years since last reno (or house_age)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2194560"/>
            <a:ext cx="4206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00600" y="2194560"/>
            <a:ext cx="91440" cy="9601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1768" y="2286000"/>
            <a:ext cx="384048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Calibri"/>
              </a:rPr>
              <a:t>has_basement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1768" y="2670048"/>
            <a:ext cx="3840480" cy="3931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Binary: sqft_basement &gt;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91839"/>
            <a:ext cx="4206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291839"/>
            <a:ext cx="91440" cy="96012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383279"/>
            <a:ext cx="384048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E8650A"/>
                </a:solidFill>
                <a:latin typeface="Calibri"/>
              </a:rPr>
              <a:t>living_space_ratio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67327"/>
            <a:ext cx="3840480" cy="3931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sqft_living ÷ sqft_living15 (vs neighbors)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3291839"/>
            <a:ext cx="4206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00600" y="3291839"/>
            <a:ext cx="91440" cy="9601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01768" y="3383279"/>
            <a:ext cx="384048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  <a:latin typeface="Calibri"/>
              </a:rPr>
              <a:t>sale_month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01768" y="3767327"/>
            <a:ext cx="3840480" cy="3931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Month extracted from sale date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6400800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Models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640080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5 models evaluated on 20% hold-out test set</a:t>
            </a:r>
          </a:p>
        </p:txBody>
      </p:sp>
      <p:pic>
        <p:nvPicPr>
          <p:cNvPr id="5" name="Picture 4" descr="chart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760720" cy="3474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17920" y="1097280"/>
            <a:ext cx="2651760" cy="438912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91072" y="1115568"/>
            <a:ext cx="128016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115568"/>
            <a:ext cx="73152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115568"/>
            <a:ext cx="50292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R²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36192"/>
            <a:ext cx="26517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609344"/>
            <a:ext cx="123444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Linear Reg.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609344"/>
            <a:ext cx="6858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$211K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609344"/>
            <a:ext cx="5029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0.692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011680"/>
            <a:ext cx="2651760" cy="438912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2084832"/>
            <a:ext cx="123444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084832"/>
            <a:ext cx="6858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$209K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84832"/>
            <a:ext cx="5029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0.697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87168"/>
            <a:ext cx="26517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2560320"/>
            <a:ext cx="123444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Lasso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560320"/>
            <a:ext cx="6858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$210K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60320"/>
            <a:ext cx="5029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0.696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962656"/>
            <a:ext cx="2651760" cy="438912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035808"/>
            <a:ext cx="123444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Random Forest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035808"/>
            <a:ext cx="6858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$145K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035808"/>
            <a:ext cx="5029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0.851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438144"/>
            <a:ext cx="2651760" cy="438912"/>
          </a:xfrm>
          <a:prstGeom prst="rect">
            <a:avLst/>
          </a:prstGeom>
          <a:solidFill>
            <a:srgbClr val="FFF0E0"/>
          </a:solidFill>
          <a:ln w="15240">
            <a:solidFill>
              <a:srgbClr val="E865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3511296"/>
            <a:ext cx="123444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E8650A"/>
                </a:solidFill>
                <a:latin typeface="Calibri"/>
              </a:rPr>
              <a:t>Grad. Boost.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511296"/>
            <a:ext cx="6858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E8650A"/>
                </a:solidFill>
                <a:latin typeface="Calibri"/>
              </a:rPr>
              <a:t>$132K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511296"/>
            <a:ext cx="5029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E8650A"/>
                </a:solidFill>
                <a:latin typeface="Calibri"/>
              </a:rPr>
              <a:t>0.878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480560"/>
            <a:ext cx="2651760" cy="420624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498848"/>
            <a:ext cx="265176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Winner: Gradient Boosting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Best Model: Gradient Boosting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731520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FF9F1C"/>
                </a:solidFill>
                <a:latin typeface="Calibri"/>
              </a:rPr>
              <a:t>200 estimators · learning_rate = 0.1 · 5-fold cross-validation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743200" cy="132588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2743200" cy="73152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98448"/>
            <a:ext cx="2743200" cy="6858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600" b="1" i="0">
                <a:solidFill>
                  <a:srgbClr val="E8650A"/>
                </a:solidFill>
                <a:latin typeface="Calibri"/>
              </a:rPr>
              <a:t>R² = 0.878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74320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Variance explained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143000"/>
            <a:ext cx="2743200" cy="132588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143000"/>
            <a:ext cx="274320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298448"/>
            <a:ext cx="2743200" cy="6858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600" b="1" i="0">
                <a:solidFill>
                  <a:srgbClr val="FF9F1C"/>
                </a:solidFill>
                <a:latin typeface="Calibri"/>
              </a:rPr>
              <a:t>$132K 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920240"/>
            <a:ext cx="274320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Root Mean Squared Error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2743200" cy="132588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274320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298448"/>
            <a:ext cx="2743200" cy="6858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600" b="1" i="0">
                <a:solidFill>
                  <a:srgbClr val="2A9D8F"/>
                </a:solidFill>
                <a:latin typeface="Calibri"/>
              </a:rPr>
              <a:t>$82K MAE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20240"/>
            <a:ext cx="274320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Mean Absolute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651760"/>
            <a:ext cx="822960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Top 6 Most Important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154680"/>
            <a:ext cx="201168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sqft_living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3191256"/>
            <a:ext cx="6217920" cy="18288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19" y="3154680"/>
            <a:ext cx="7315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E8650A"/>
                </a:solidFill>
                <a:latin typeface="Calibri"/>
              </a:rPr>
              <a:t>22%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447288"/>
            <a:ext cx="201168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grade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3483864"/>
            <a:ext cx="5370021" cy="1828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4621" y="3447288"/>
            <a:ext cx="7315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F9F1C"/>
                </a:solidFill>
                <a:latin typeface="Calibri"/>
              </a:rPr>
              <a:t>19%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739896"/>
            <a:ext cx="201168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lat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3160" y="3776472"/>
            <a:ext cx="4239490" cy="18288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54090" y="3739896"/>
            <a:ext cx="7315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E8650A"/>
                </a:solidFill>
                <a:latin typeface="Calibri"/>
              </a:rPr>
              <a:t>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032504"/>
            <a:ext cx="201168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sqft_living15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23160" y="4069080"/>
            <a:ext cx="2826327" cy="1828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0927" y="4032504"/>
            <a:ext cx="7315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F9F1C"/>
                </a:solidFill>
                <a:latin typeface="Calibri"/>
              </a:rPr>
              <a:t>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325112"/>
            <a:ext cx="201168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long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23160" y="4361688"/>
            <a:ext cx="2261061" cy="18288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5661" y="4325112"/>
            <a:ext cx="7315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E8650A"/>
                </a:solidFill>
                <a:latin typeface="Calibri"/>
              </a:rPr>
              <a:t>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617720"/>
            <a:ext cx="201168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sqft_above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23160" y="4654296"/>
            <a:ext cx="1978429" cy="1828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3029" y="4617720"/>
            <a:ext cx="7315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F9F1C"/>
                </a:solidFill>
                <a:latin typeface="Calibri"/>
              </a:rPr>
              <a:t>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6400800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09728" cy="59436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14984"/>
            <a:ext cx="8229600" cy="29260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Size &amp; Grade dominate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07592"/>
            <a:ext cx="8229600" cy="29260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sqft_living and grade are the #1 and #2 predictors of price.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109728" cy="5943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8229600" cy="29260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Location is 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8229600" cy="29260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Latitude, longitude, and zip code explain significant price variance.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109728" cy="5943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69463"/>
            <a:ext cx="8229600" cy="29260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Premium segment is distinct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62072"/>
            <a:ext cx="8229600" cy="29260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24% of homes (≥$650K) show starkly different grade, size, and waterfront rates.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37560"/>
            <a:ext cx="109728" cy="5943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346703"/>
            <a:ext cx="8229600" cy="29260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Tree models outperform linear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39312"/>
            <a:ext cx="8229600" cy="29260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Gradient Boosting achieves R² = 0.878 vs 0.697 for Ridge regression.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14800"/>
            <a:ext cx="109728" cy="594360"/>
          </a:xfrm>
          <a:prstGeom prst="rect">
            <a:avLst/>
          </a:prstGeom>
          <a:solidFill>
            <a:srgbClr val="A8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123944"/>
            <a:ext cx="8229600" cy="29260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Feature engineering adds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416552"/>
            <a:ext cx="8229600" cy="29260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house_age, was_renovated, and living_space_ratio improved model accuracy.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Gradient Boosting · R² = 0.878 · RMSE $132K · MAE $82K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